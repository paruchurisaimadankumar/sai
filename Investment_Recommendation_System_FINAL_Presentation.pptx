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0" y="0"/>
            <a:ext cx="4190695" cy="6858000"/>
          </a:xfrm>
          <a:prstGeom prst="rect">
            <a:avLst/>
          </a:prstGeom>
          <a:solidFill>
            <a:srgbClr val="14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6949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7FA"/>
                </a:solidFill>
                <a:latin typeface="Aptos Display"/>
              </a:rPr>
              <a:t>INVESTMENT
RECOMMENDATION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971800"/>
            <a:ext cx="6217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50BEDC"/>
                </a:solidFill>
                <a:latin typeface="Aptos"/>
              </a:rPr>
              <a:t>Finance Capstone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886200"/>
            <a:ext cx="63093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Presented by: PARUCHURI SAI MADAN KUMAR</a:t>
            </a:r>
          </a:p>
          <a:p>
            <a:pPr>
              <a:spcAft>
                <a:spcPts val="600"/>
              </a:spcAft>
              <a:defRPr sz="1400">
                <a:solidFill>
                  <a:srgbClr val="F5F7FA"/>
                </a:solidFill>
                <a:latin typeface="Aptos"/>
              </a:defRPr>
            </a:pPr>
            <a:r>
              <a:t>Roll No.: 25914050399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  <a:latin typeface="Aptos"/>
              </a:defRPr>
            </a:pPr>
            <a:r>
              <a:t>MBA Finance  |  K. L University</a:t>
            </a:r>
          </a:p>
          <a:p>
            <a:pPr>
              <a:spcAft>
                <a:spcPts val="600"/>
              </a:spcAft>
              <a:defRPr sz="1250">
                <a:solidFill>
                  <a:srgbClr val="F5F7FA"/>
                </a:solidFill>
                <a:latin typeface="Aptos"/>
              </a:defRPr>
            </a:pPr>
            <a:r>
              <a:t>Academic Year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1188720"/>
            <a:ext cx="3063240" cy="123444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58200" y="1188720"/>
            <a:ext cx="54864" cy="1234440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22792" y="132588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166420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Interactive Streamlit 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2697480"/>
            <a:ext cx="3063240" cy="123444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58200" y="2697480"/>
            <a:ext cx="54864" cy="1234440"/>
          </a:xfrm>
          <a:prstGeom prst="rect">
            <a:avLst/>
          </a:prstGeom>
          <a:solidFill>
            <a:srgbClr val="5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2" y="283464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Core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2792" y="317296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Return • Risk • Trend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206240"/>
            <a:ext cx="3063240" cy="123444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200" y="4206240"/>
            <a:ext cx="54864" cy="1234440"/>
          </a:xfrm>
          <a:prstGeom prst="rect">
            <a:avLst/>
          </a:prstGeom>
          <a:solidFill>
            <a:srgbClr val="36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2792" y="434340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4681727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Recommendation • 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C3"/>
                </a:solidFill>
                <a:latin typeface="Aptos"/>
              </a:rPr>
              <a:t>Investment Recommendation System  •  MBA Finance Capstone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  <a:latin typeface="Aptos Display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AB4C3"/>
                </a:solidFill>
                <a:latin typeface="Aptos"/>
              </a:rPr>
              <a:t>A practical finance analytics application for structured investment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43891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0BED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Analyzes historical market data for selected stocks.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Measures return, volatility, maximum drawdown and moving-average trends.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Combines return, trend and normalized risk into a project-defined investment score.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Supports stock comparison, risk–return visualization and portfolio analysis.</a:t>
            </a:r>
          </a:p>
          <a:p>
            <a:pPr>
              <a:spcAft>
                <a:spcPts val="800"/>
              </a:spcAft>
              <a:defRPr sz="1800">
                <a:solidFill>
                  <a:srgbClr val="F5F7FA"/>
                </a:solidFill>
                <a:latin typeface="Aptos"/>
              </a:defRPr>
            </a:pPr>
            <a:r>
              <a:t>• Presents results through an interactive Streamlit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417320"/>
            <a:ext cx="3611880" cy="123444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417320"/>
            <a:ext cx="54864" cy="1234440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9831" y="1554480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Data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1" y="189280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Yahoo Finance historical market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2880360"/>
            <a:ext cx="3611880" cy="123444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2880360"/>
            <a:ext cx="54864" cy="1234440"/>
          </a:xfrm>
          <a:prstGeom prst="rect">
            <a:avLst/>
          </a:prstGeom>
          <a:solidFill>
            <a:srgbClr val="5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99831" y="3017520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Analysis 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9831" y="335584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1 year shown in the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343400"/>
            <a:ext cx="3611880" cy="123444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4343400"/>
            <a:ext cx="54864" cy="1234440"/>
          </a:xfrm>
          <a:prstGeom prst="rect">
            <a:avLst/>
          </a:prstGeom>
          <a:solidFill>
            <a:srgbClr val="36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9831" y="4480560"/>
            <a:ext cx="3291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Selected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1" y="4818888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TCS (TCS.NS)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C3"/>
                </a:solidFill>
                <a:latin typeface="Aptos"/>
              </a:rPr>
              <a:t>Investment Recommendation System  •  MBA Finance Capstone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  <a:latin typeface="Aptos Display"/>
              </a:rP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AB4C3"/>
                </a:solidFill>
                <a:latin typeface="Aptos"/>
              </a:rPr>
              <a:t>Why the system was developed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43891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0BEDC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303520" cy="443484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54864" cy="4434840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63039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01368"/>
            <a:ext cx="498348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Investors need a structured way to evaluate historical return, risk and trend across multiple stocks. Manual comparison of several indicators can be time-consuming and may make it difficult to form a consistent analytical 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303520" cy="443484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54864" cy="4434840"/>
          </a:xfrm>
          <a:prstGeom prst="rect">
            <a:avLst/>
          </a:prstGeom>
          <a:solidFill>
            <a:srgbClr val="5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463039"/>
            <a:ext cx="4983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801368"/>
            <a:ext cx="498348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• Collect and process historical stock data</a:t>
            </a:r>
            <a:br/>
            <a:r>
              <a:t>• Calculate financial risk/return metrics</a:t>
            </a:r>
            <a:br/>
            <a:r>
              <a:t>• Analyze moving-average trends</a:t>
            </a:r>
            <a:br/>
            <a:r>
              <a:t>• Compare selected stocks</a:t>
            </a:r>
            <a:br/>
            <a:r>
              <a:t>• Generate a project-defined BUY/HOLD/SELL score</a:t>
            </a:r>
            <a:br/>
            <a:r>
              <a:t>• Analyze portfolio performance</a:t>
            </a:r>
            <a:br/>
            <a:r>
              <a:t>• Present results interactively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C3"/>
                </a:solidFill>
                <a:latin typeface="Aptos"/>
              </a:rPr>
              <a:t>Investment Recommendation System  •  MBA Finance Capstone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  <a:latin typeface="Aptos Display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AB4C3"/>
                </a:solidFill>
                <a:latin typeface="Aptos"/>
              </a:rPr>
              <a:t>Tools used to build the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43891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0BEDC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074920" cy="91440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4864" cy="914400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17319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755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Core development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280160"/>
            <a:ext cx="5074920" cy="91440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280160"/>
            <a:ext cx="54864" cy="914400"/>
          </a:xfrm>
          <a:prstGeom prst="rect">
            <a:avLst/>
          </a:prstGeom>
          <a:solidFill>
            <a:srgbClr val="5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1" y="1417319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1" y="1755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Data 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423160"/>
            <a:ext cx="5074920" cy="91440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423160"/>
            <a:ext cx="54864" cy="914400"/>
          </a:xfrm>
          <a:prstGeom prst="rect">
            <a:avLst/>
          </a:prstGeom>
          <a:solidFill>
            <a:srgbClr val="EB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560320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NumPy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2898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Numerical calculations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2423160"/>
            <a:ext cx="5074920" cy="91440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2423160"/>
            <a:ext cx="54864" cy="914400"/>
          </a:xfrm>
          <a:prstGeom prst="rect">
            <a:avLst/>
          </a:prstGeom>
          <a:solidFill>
            <a:srgbClr val="36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2560320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yfinance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1" y="2898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Historical market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566160"/>
            <a:ext cx="5074920" cy="91440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566160"/>
            <a:ext cx="54864" cy="914400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03320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Plotly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41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Interactive charts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3566160"/>
            <a:ext cx="5074920" cy="91440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3566160"/>
            <a:ext cx="54864" cy="914400"/>
          </a:xfrm>
          <a:prstGeom prst="rect">
            <a:avLst/>
          </a:prstGeom>
          <a:solidFill>
            <a:srgbClr val="5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1" y="3703320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Streamlit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1" y="4041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Dashboard UI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709160"/>
            <a:ext cx="5074920" cy="91440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709160"/>
            <a:ext cx="54864" cy="914400"/>
          </a:xfrm>
          <a:prstGeom prst="rect">
            <a:avLst/>
          </a:prstGeom>
          <a:solidFill>
            <a:srgbClr val="EB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4846320"/>
            <a:ext cx="4754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VS 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1846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Development environment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486400"/>
            <a:ext cx="10561320" cy="594360"/>
          </a:xfrm>
          <a:prstGeom prst="roundRect">
            <a:avLst/>
          </a:prstGeom>
          <a:solidFill>
            <a:srgbClr val="111B2A"/>
          </a:solidFill>
          <a:ln w="12700">
            <a:solidFill>
              <a:srgbClr val="E6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596128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5F7FA"/>
                </a:solidFill>
                <a:latin typeface="Aptos"/>
              </a:defRPr>
            </a:pPr>
            <a:r>
              <a:t>The application is designed for academic and analytical use; it does not execute trades.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C3"/>
                </a:solidFill>
                <a:latin typeface="Aptos"/>
              </a:rPr>
              <a:t>Investment Recommendation System  •  MBA Finance Capstone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AB4C3"/>
                </a:solidFill>
                <a:latin typeface="Aptos"/>
              </a:rPr>
              <a:t>End-to-end workflow from data collection to decision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43891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0BEDC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3383280" cy="141732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08760"/>
            <a:ext cx="54864" cy="1417320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45919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Yahoo 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984248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383280" cy="141732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08760"/>
            <a:ext cx="54864" cy="1417320"/>
          </a:xfrm>
          <a:prstGeom prst="rect">
            <a:avLst/>
          </a:prstGeom>
          <a:solidFill>
            <a:srgbClr val="5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Data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984248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08760"/>
            <a:ext cx="3383280" cy="141732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508760"/>
            <a:ext cx="54864" cy="1417320"/>
          </a:xfrm>
          <a:prstGeom prst="rect">
            <a:avLst/>
          </a:prstGeom>
          <a:solidFill>
            <a:srgbClr val="36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645919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Financial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1984248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11879"/>
            <a:ext cx="3383280" cy="141732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611879"/>
            <a:ext cx="54864" cy="1417320"/>
          </a:xfrm>
          <a:prstGeom prst="rect">
            <a:avLst/>
          </a:prstGeom>
          <a:solidFill>
            <a:srgbClr val="EB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749039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087368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611879"/>
            <a:ext cx="3383280" cy="141732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611879"/>
            <a:ext cx="54864" cy="1417320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3749039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087368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3611879"/>
            <a:ext cx="3383280" cy="141732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80" y="3611879"/>
            <a:ext cx="54864" cy="1417320"/>
          </a:xfrm>
          <a:prstGeom prst="rect">
            <a:avLst/>
          </a:prstGeom>
          <a:solidFill>
            <a:srgbClr val="5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48472" y="3749039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4087368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5F7FA"/>
                </a:solidFill>
                <a:latin typeface="Aptos Display"/>
              </a:rPr>
              <a:t>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" y="5715000"/>
            <a:ext cx="10058400" cy="502920"/>
          </a:xfrm>
          <a:prstGeom prst="roundRect">
            <a:avLst/>
          </a:prstGeom>
          <a:solidFill>
            <a:srgbClr val="111B2A"/>
          </a:solidFill>
          <a:ln w="12700">
            <a:solidFill>
              <a:srgbClr val="5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16151" y="5824728"/>
            <a:ext cx="9738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5F7FA"/>
                </a:solidFill>
                <a:latin typeface="Aptos"/>
              </a:defRPr>
            </a:pPr>
            <a:r>
              <a:t>Workflow: Data Collection → Cleaning &amp; Analysis → Risk/Return → Recommendation → Dashboard →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C3"/>
                </a:solidFill>
                <a:latin typeface="Aptos"/>
              </a:rPr>
              <a:t>Investment Recommendation System  •  MBA Finance Capstone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  <a:latin typeface="Aptos Display"/>
              </a:rPr>
              <a:t>Project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AB4C3"/>
                </a:solidFill>
                <a:latin typeface="Aptos"/>
              </a:rPr>
              <a:t>Functional components implemented in 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43891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0BEDC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120640" cy="841248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325880"/>
            <a:ext cx="54864" cy="841248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463039"/>
            <a:ext cx="4800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Module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801368"/>
            <a:ext cx="4800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Financial Data Collection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1325880"/>
            <a:ext cx="5120640" cy="841248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79" y="1325880"/>
            <a:ext cx="54864" cy="841248"/>
          </a:xfrm>
          <a:prstGeom prst="rect">
            <a:avLst/>
          </a:prstGeom>
          <a:solidFill>
            <a:srgbClr val="5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1" y="1463039"/>
            <a:ext cx="4800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Module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1" y="1801368"/>
            <a:ext cx="4800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Data Cleaning &amp; 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04872"/>
            <a:ext cx="5120640" cy="841248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404872"/>
            <a:ext cx="54864" cy="841248"/>
          </a:xfrm>
          <a:prstGeom prst="rect">
            <a:avLst/>
          </a:prstGeom>
          <a:solidFill>
            <a:srgbClr val="36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2542032"/>
            <a:ext cx="4800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Module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2880360"/>
            <a:ext cx="4800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Investment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2404872"/>
            <a:ext cx="5120640" cy="841248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79" y="2404872"/>
            <a:ext cx="54864" cy="841248"/>
          </a:xfrm>
          <a:prstGeom prst="rect">
            <a:avLst/>
          </a:prstGeom>
          <a:solidFill>
            <a:srgbClr val="EB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1" y="2542032"/>
            <a:ext cx="4800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Module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1" y="2880360"/>
            <a:ext cx="4800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Risk Analysis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483863"/>
            <a:ext cx="5120640" cy="841248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3483863"/>
            <a:ext cx="54864" cy="841248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621023"/>
            <a:ext cx="4800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Module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3959352"/>
            <a:ext cx="4800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Recommendation System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79" y="3483863"/>
            <a:ext cx="5120640" cy="841248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5079" y="3483863"/>
            <a:ext cx="54864" cy="841248"/>
          </a:xfrm>
          <a:prstGeom prst="rect">
            <a:avLst/>
          </a:prstGeom>
          <a:solidFill>
            <a:srgbClr val="5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1" y="3621023"/>
            <a:ext cx="4800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Module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1" y="3959352"/>
            <a:ext cx="4800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Stock Comparison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562856"/>
            <a:ext cx="5120640" cy="841248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4562856"/>
            <a:ext cx="54864" cy="841248"/>
          </a:xfrm>
          <a:prstGeom prst="rect">
            <a:avLst/>
          </a:prstGeom>
          <a:solidFill>
            <a:srgbClr val="36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4700016"/>
            <a:ext cx="4800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Module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" y="5038344"/>
            <a:ext cx="4800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Portfolio Analysis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79" y="4562856"/>
            <a:ext cx="5120640" cy="841248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79" y="4562856"/>
            <a:ext cx="54864" cy="841248"/>
          </a:xfrm>
          <a:prstGeom prst="rect">
            <a:avLst/>
          </a:prstGeom>
          <a:solidFill>
            <a:srgbClr val="EB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1" y="4700016"/>
            <a:ext cx="4800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Module 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9671" y="5038344"/>
            <a:ext cx="48006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Dashboard &amp;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C3"/>
                </a:solidFill>
                <a:latin typeface="Aptos"/>
              </a:rPr>
              <a:t>Investment Recommendation System  •  MBA Finance Capstone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  <a:latin typeface="Aptos Display"/>
              </a:rPr>
              <a:t>Financial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AB4C3"/>
                </a:solidFill>
                <a:latin typeface="Aptos"/>
              </a:rPr>
              <a:t>Metrics used to evaluate historical investment behaviour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43891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0BEDC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3474720" cy="141732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80160"/>
            <a:ext cx="54864" cy="1417320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17319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Total Return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55648"/>
            <a:ext cx="3154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(Ending Price − Starting Price) / Starting Price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280160"/>
            <a:ext cx="3474720" cy="141732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280160"/>
            <a:ext cx="54864" cy="1417320"/>
          </a:xfrm>
          <a:prstGeom prst="rect">
            <a:avLst/>
          </a:prstGeom>
          <a:solidFill>
            <a:srgbClr val="5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417319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Daily 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755648"/>
            <a:ext cx="3154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Percentage change in price from one trading day to the 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280160"/>
            <a:ext cx="3474720" cy="141732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4" y="1280160"/>
            <a:ext cx="54864" cy="1417320"/>
          </a:xfrm>
          <a:prstGeom prst="rect">
            <a:avLst/>
          </a:prstGeom>
          <a:solidFill>
            <a:srgbClr val="EB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0456" y="1417319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Annualized Volatility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1755648"/>
            <a:ext cx="3154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Standard deviation of daily returns × √252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63240"/>
            <a:ext cx="3474720" cy="141732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063240"/>
            <a:ext cx="54864" cy="1417320"/>
          </a:xfrm>
          <a:prstGeom prst="rect">
            <a:avLst/>
          </a:prstGeom>
          <a:solidFill>
            <a:srgbClr val="E6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200400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Maximum Drawdown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538728"/>
            <a:ext cx="3154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Largest decline from a historical peak to a subsequent trough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063240"/>
            <a:ext cx="3474720" cy="141732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063240"/>
            <a:ext cx="54864" cy="1417320"/>
          </a:xfrm>
          <a:prstGeom prst="rect">
            <a:avLst/>
          </a:prstGeom>
          <a:solidFill>
            <a:srgbClr val="36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5424" y="3200400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Moving Averages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35424" y="3538728"/>
            <a:ext cx="3154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MA20 and MA50 used to evaluate price trend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5864" y="3063240"/>
            <a:ext cx="3474720" cy="141732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4" y="3063240"/>
            <a:ext cx="54864" cy="1417320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0456" y="3200400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Portfolio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0456" y="3538728"/>
            <a:ext cx="31546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Weighted daily returns used for portfolio performance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212080"/>
            <a:ext cx="10607040" cy="640080"/>
          </a:xfrm>
          <a:prstGeom prst="roundRect">
            <a:avLst/>
          </a:prstGeom>
          <a:solidFill>
            <a:srgbClr val="111B2A"/>
          </a:solidFill>
          <a:ln w="12700">
            <a:solidFill>
              <a:srgbClr val="E65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5321808"/>
            <a:ext cx="102870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5F7FA"/>
                </a:solidFill>
                <a:latin typeface="Aptos"/>
              </a:defRPr>
            </a:pPr>
            <a:r>
              <a:t>These metrics describe historical behaviour; they are not guarantees of future market performance.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C3"/>
                </a:solidFill>
                <a:latin typeface="Aptos"/>
              </a:rPr>
              <a:t>Investment Recommendation System  •  MBA Finance Capstone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  <a:latin typeface="Aptos Display"/>
              </a:rPr>
              <a:t>Recommendation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AB4C3"/>
                </a:solidFill>
                <a:latin typeface="Aptos"/>
              </a:rPr>
              <a:t>Project-defined scoring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43891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0BEDC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83280" cy="141732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280160"/>
            <a:ext cx="54864" cy="1417320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17319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Return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755648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&gt; +10% → +1</a:t>
            </a:r>
            <a:br/>
            <a:r>
              <a:t>&lt; −10% → −1</a:t>
            </a:r>
            <a:br/>
            <a:r>
              <a:t>Otherwise →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280160"/>
            <a:ext cx="3383280" cy="141732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280160"/>
            <a:ext cx="54864" cy="1417320"/>
          </a:xfrm>
          <a:prstGeom prst="rect">
            <a:avLst/>
          </a:prstGeom>
          <a:solidFill>
            <a:srgbClr val="5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17319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Volatility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755648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&lt; 15% → +1</a:t>
            </a:r>
            <a:br/>
            <a:r>
              <a:t>15–25% → 0</a:t>
            </a:r>
            <a:br/>
            <a:r>
              <a:t>&gt; 25% → −1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1280160"/>
            <a:ext cx="3383280" cy="141732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280160"/>
            <a:ext cx="54864" cy="1417320"/>
          </a:xfrm>
          <a:prstGeom prst="rect">
            <a:avLst/>
          </a:prstGeom>
          <a:solidFill>
            <a:srgbClr val="E6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417319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Drawdown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755648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&gt; −20% → +1</a:t>
            </a:r>
            <a:br/>
            <a:r>
              <a:t>−20% to −30% → 0</a:t>
            </a:r>
            <a:br/>
            <a:r>
              <a:t>&lt; −30% → −1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63240"/>
            <a:ext cx="5257800" cy="141732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063240"/>
            <a:ext cx="54864" cy="1417320"/>
          </a:xfrm>
          <a:prstGeom prst="rect">
            <a:avLst/>
          </a:prstGeom>
          <a:solidFill>
            <a:srgbClr val="EB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200400"/>
            <a:ext cx="49377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Investment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53872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40% Return Score + 30% Trend Score + 30% Normalized Risk Score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3063240"/>
            <a:ext cx="5212080" cy="141732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45352" y="3063240"/>
            <a:ext cx="54864" cy="1417320"/>
          </a:xfrm>
          <a:prstGeom prst="rect">
            <a:avLst/>
          </a:prstGeom>
          <a:solidFill>
            <a:srgbClr val="36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9944" y="3200400"/>
            <a:ext cx="4892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Recommendation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3538728"/>
            <a:ext cx="4892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Score ≥ 0.50 → BUY</a:t>
            </a:r>
            <a:br/>
            <a:r>
              <a:t>−0.50 &lt; Score &lt; 0.50 → HOLD</a:t>
            </a:r>
            <a:br/>
            <a:r>
              <a:t>Score ≤ −0.50 → SELL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5074920"/>
            <a:ext cx="10561320" cy="713232"/>
          </a:xfrm>
          <a:prstGeom prst="roundRect">
            <a:avLst/>
          </a:prstGeom>
          <a:solidFill>
            <a:srgbClr val="111B2A"/>
          </a:solidFill>
          <a:ln w="12700">
            <a:solidFill>
              <a:srgbClr val="EB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1" y="5184648"/>
            <a:ext cx="10241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5F7FA"/>
                </a:solidFill>
                <a:latin typeface="Aptos"/>
              </a:defRPr>
            </a:pPr>
            <a:r>
              <a:t>Important: the weights and thresholds above are defined for this academic project; they are not presented as universal investment rules.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C3"/>
                </a:solidFill>
                <a:latin typeface="Aptos"/>
              </a:rPr>
              <a:t>Investment Recommendation System  •  MBA Finance Capstone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  <a:latin typeface="Aptos Display"/>
              </a:rPr>
              <a:t>Dashboard — Investment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AB4C3"/>
                </a:solidFill>
                <a:latin typeface="Aptos"/>
              </a:rPr>
              <a:t>Actual screenshot from the submitted dashboard 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43891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0BEDC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9081" y="1207007"/>
            <a:ext cx="3705676" cy="5221224"/>
          </a:xfrm>
          <a:prstGeom prst="roundRect">
            <a:avLst/>
          </a:prstGeom>
          <a:solidFill>
            <a:srgbClr val="05080E"/>
          </a:solidFill>
          <a:ln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_final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13" y="1234439"/>
            <a:ext cx="3650812" cy="5166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06640" y="1325880"/>
            <a:ext cx="3977639" cy="105156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325880"/>
            <a:ext cx="54864" cy="1051560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463039"/>
            <a:ext cx="365759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Current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71231" y="1801368"/>
            <a:ext cx="365759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₹2,075.00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606040"/>
            <a:ext cx="3977639" cy="105156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606040"/>
            <a:ext cx="54864" cy="1051560"/>
          </a:xfrm>
          <a:prstGeom prst="rect">
            <a:avLst/>
          </a:prstGeom>
          <a:solidFill>
            <a:srgbClr val="E6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71231" y="2743200"/>
            <a:ext cx="365759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Total 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3081528"/>
            <a:ext cx="365759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−25.53%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3886200"/>
            <a:ext cx="3977639" cy="105156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3886200"/>
            <a:ext cx="54864" cy="1051560"/>
          </a:xfrm>
          <a:prstGeom prst="rect">
            <a:avLst/>
          </a:prstGeom>
          <a:solidFill>
            <a:srgbClr val="EB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1" y="4023360"/>
            <a:ext cx="365759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Annualized Volatility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1231" y="4361688"/>
            <a:ext cx="365759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28.35%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5166360"/>
            <a:ext cx="3977639" cy="105156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5166360"/>
            <a:ext cx="54864" cy="1051560"/>
          </a:xfrm>
          <a:prstGeom prst="rect">
            <a:avLst/>
          </a:prstGeom>
          <a:solidFill>
            <a:srgbClr val="E6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71231" y="5303520"/>
            <a:ext cx="365759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Maximum Drawdown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71231" y="5641848"/>
            <a:ext cx="365759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−38.46%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C3"/>
                </a:solidFill>
                <a:latin typeface="Aptos"/>
              </a:rPr>
              <a:t>Investment Recommendation System  •  MBA Finance Capstone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  <a:latin typeface="Aptos Display"/>
              </a:rPr>
              <a:t>Dashboard —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AB4C3"/>
                </a:solidFill>
                <a:latin typeface="Aptos"/>
              </a:rPr>
              <a:t>TCS example shown in 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43891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0BEDC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66891" y="1161287"/>
            <a:ext cx="3867216" cy="5449824"/>
          </a:xfrm>
          <a:prstGeom prst="roundRect">
            <a:avLst/>
          </a:prstGeom>
          <a:solidFill>
            <a:srgbClr val="05080E"/>
          </a:solidFill>
          <a:ln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_final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323" y="1188719"/>
            <a:ext cx="3812352" cy="5394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325880"/>
            <a:ext cx="3657600" cy="114300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325880"/>
            <a:ext cx="54864" cy="1143000"/>
          </a:xfrm>
          <a:prstGeom prst="rect">
            <a:avLst/>
          </a:prstGeom>
          <a:solidFill>
            <a:srgbClr val="E6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9831" y="1463039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Return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9831" y="1801368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−1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697480"/>
            <a:ext cx="3657600" cy="114300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2697480"/>
            <a:ext cx="54864" cy="1143000"/>
          </a:xfrm>
          <a:prstGeom prst="rect">
            <a:avLst/>
          </a:prstGeom>
          <a:solidFill>
            <a:srgbClr val="E6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1" y="2834640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Trend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3172968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−1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4069080"/>
            <a:ext cx="3657600" cy="114300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35240" y="4069080"/>
            <a:ext cx="54864" cy="1143000"/>
          </a:xfrm>
          <a:prstGeom prst="rect">
            <a:avLst/>
          </a:prstGeom>
          <a:solidFill>
            <a:srgbClr val="E6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4206240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Risk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99831" y="4544568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−2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5440680"/>
            <a:ext cx="3657600" cy="86868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5440680"/>
            <a:ext cx="54864" cy="868680"/>
          </a:xfrm>
          <a:prstGeom prst="rect">
            <a:avLst/>
          </a:prstGeom>
          <a:solidFill>
            <a:srgbClr val="E6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9831" y="5577840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System 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9831" y="5916168"/>
            <a:ext cx="3337560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SELL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C3"/>
                </a:solidFill>
                <a:latin typeface="Aptos"/>
              </a:rPr>
              <a:t>Investment Recommendation System  •  MBA Finance Capstone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  <a:latin typeface="Aptos Display"/>
              </a:rPr>
              <a:t>Dashboard — Detailed Analysis &amp;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AB4C3"/>
                </a:solidFill>
                <a:latin typeface="Aptos"/>
              </a:rPr>
              <a:t>Actual screenshot from dashboard page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43891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0BEDC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72631" y="1142999"/>
            <a:ext cx="3867216" cy="5449824"/>
          </a:xfrm>
          <a:prstGeom prst="roundRect">
            <a:avLst/>
          </a:prstGeom>
          <a:solidFill>
            <a:srgbClr val="05080E"/>
          </a:solidFill>
          <a:ln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_final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63" y="1170431"/>
            <a:ext cx="3812352" cy="5394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38160" y="1325880"/>
            <a:ext cx="3291840" cy="105156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1325880"/>
            <a:ext cx="54864" cy="1051560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463039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Detailed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1801368"/>
            <a:ext cx="29718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Stock, ticker, starting/current price, return and risk metrics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651760"/>
            <a:ext cx="3291840" cy="105156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651760"/>
            <a:ext cx="54864" cy="1051560"/>
          </a:xfrm>
          <a:prstGeom prst="rect">
            <a:avLst/>
          </a:prstGeom>
          <a:solidFill>
            <a:srgbClr val="5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788920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Recent Market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127248"/>
            <a:ext cx="29718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Recent close, MA20, MA50 and daily-return information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977639"/>
            <a:ext cx="3291840" cy="105156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3977639"/>
            <a:ext cx="54864" cy="1051560"/>
          </a:xfrm>
          <a:prstGeom prst="rect">
            <a:avLst/>
          </a:prstGeom>
          <a:solidFill>
            <a:srgbClr val="36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4114800"/>
            <a:ext cx="2971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Stock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4453127"/>
            <a:ext cx="297180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Same return, risk and investment-scoring methodology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5303520"/>
            <a:ext cx="3291840" cy="777240"/>
          </a:xfrm>
          <a:prstGeom prst="roundRect">
            <a:avLst/>
          </a:prstGeom>
          <a:solidFill>
            <a:srgbClr val="111B2A"/>
          </a:solidFill>
          <a:ln w="12700">
            <a:solidFill>
              <a:srgbClr val="5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5413248"/>
            <a:ext cx="297180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5F7FA"/>
                </a:solidFill>
                <a:latin typeface="Aptos"/>
              </a:defRPr>
            </a:pPr>
            <a:r>
              <a:t>The dashboard compares TCS, Infosys, Reliance Industries, HDFC Bank and ICICI Bank.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C3"/>
                </a:solidFill>
                <a:latin typeface="Aptos"/>
              </a:rPr>
              <a:t>Investment Recommendation System  •  MBA Finance Capstone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  <a:latin typeface="Aptos Display"/>
              </a:rPr>
              <a:t>Dashboard — Risk–Return &amp;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AB4C3"/>
                </a:solidFill>
                <a:latin typeface="Aptos"/>
              </a:rPr>
              <a:t>Actual screenshot from dashboard page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43891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0BEDC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27877" y="1115568"/>
            <a:ext cx="3899525" cy="5495544"/>
          </a:xfrm>
          <a:prstGeom prst="roundRect">
            <a:avLst/>
          </a:prstGeom>
          <a:solidFill>
            <a:srgbClr val="05080E"/>
          </a:solidFill>
          <a:ln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_final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309" y="1143000"/>
            <a:ext cx="3844661" cy="5440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26679" y="1234440"/>
            <a:ext cx="3657600" cy="105156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234440"/>
            <a:ext cx="54864" cy="1051560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1" y="1371600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Portfolio Stocks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1271" y="1709928"/>
            <a:ext cx="33375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TCS • Infosys • Reliance Industries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560320"/>
            <a:ext cx="3657600" cy="105156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2560320"/>
            <a:ext cx="54864" cy="1051560"/>
          </a:xfrm>
          <a:prstGeom prst="rect">
            <a:avLst/>
          </a:prstGeom>
          <a:solidFill>
            <a:srgbClr val="5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91271" y="2697479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Portfolio Weights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3035808"/>
            <a:ext cx="33375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33.33% each • Total 100%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3886200"/>
            <a:ext cx="3657600" cy="105156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26679" y="3886200"/>
            <a:ext cx="54864" cy="1051560"/>
          </a:xfrm>
          <a:prstGeom prst="rect">
            <a:avLst/>
          </a:prstGeom>
          <a:solidFill>
            <a:srgbClr val="E6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4023360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Portfolio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1" y="4361688"/>
            <a:ext cx="3337560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−20.79%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5212080"/>
            <a:ext cx="1737360" cy="82296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26679" y="5212080"/>
            <a:ext cx="54864" cy="822960"/>
          </a:xfrm>
          <a:prstGeom prst="rect">
            <a:avLst/>
          </a:prstGeom>
          <a:solidFill>
            <a:srgbClr val="EB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91271" y="5349240"/>
            <a:ext cx="141731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Volatility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1" y="5687568"/>
            <a:ext cx="14173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20.55%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5212080"/>
            <a:ext cx="1737360" cy="82296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5212080"/>
            <a:ext cx="54864" cy="822960"/>
          </a:xfrm>
          <a:prstGeom prst="rect">
            <a:avLst/>
          </a:prstGeom>
          <a:solidFill>
            <a:srgbClr val="E6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11512" y="5349240"/>
            <a:ext cx="141731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Drawdown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1512" y="5687568"/>
            <a:ext cx="14173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−32.86%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C3"/>
                </a:solidFill>
                <a:latin typeface="Aptos"/>
              </a:rPr>
              <a:t>Investment Recommendation System  •  MBA Finance Capstone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  <a:latin typeface="Aptos Display"/>
              </a:rPr>
              <a:t>Dashboard — Portfolio Growth &amp;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AB4C3"/>
                </a:solidFill>
                <a:latin typeface="Aptos"/>
              </a:rPr>
              <a:t>Actual screenshot from dashboard page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43891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0BEDC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3597" y="1115568"/>
            <a:ext cx="3899525" cy="5495544"/>
          </a:xfrm>
          <a:prstGeom prst="roundRect">
            <a:avLst/>
          </a:prstGeom>
          <a:solidFill>
            <a:srgbClr val="05080E"/>
          </a:solidFill>
          <a:ln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shboard_final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029" y="1143000"/>
            <a:ext cx="3844661" cy="5440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80960" y="1325880"/>
            <a:ext cx="3657600" cy="114300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1325880"/>
            <a:ext cx="54864" cy="1143000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1463039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Portfolio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1801368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Indexed portfolio value shown over the analysis period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2743200"/>
            <a:ext cx="3657600" cy="114300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2743200"/>
            <a:ext cx="54864" cy="1143000"/>
          </a:xfrm>
          <a:prstGeom prst="rect">
            <a:avLst/>
          </a:prstGeom>
          <a:solidFill>
            <a:srgbClr val="5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5552" y="2880360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Investment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3218688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Dashboard provides a downloadable investment report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4160520"/>
            <a:ext cx="3657600" cy="114300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0" y="4160520"/>
            <a:ext cx="54864" cy="1143000"/>
          </a:xfrm>
          <a:prstGeom prst="rect">
            <a:avLst/>
          </a:prstGeom>
          <a:solidFill>
            <a:srgbClr val="EBB4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4297680"/>
            <a:ext cx="3337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Academic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5552" y="4636008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Structured analytical output; no trade 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C3"/>
                </a:solidFill>
                <a:latin typeface="Aptos"/>
              </a:rPr>
              <a:t>Investment Recommendation System  •  MBA Finance Capstone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  <a:latin typeface="Aptos Display"/>
              </a:rPr>
              <a:t>Results — Stock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AB4C3"/>
                </a:solidFill>
                <a:latin typeface="Aptos"/>
              </a:rPr>
              <a:t>Historical results captured from 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43891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0BEDC"/>
                </a:solidFill>
                <a:latin typeface="Aptos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105156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1920240"/>
                <a:gridCol w="1920240"/>
                <a:gridCol w="1280160"/>
                <a:gridCol w="1280160"/>
              </a:tblGrid>
              <a:tr h="5410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0BEDC"/>
                          </a:solidFill>
                          <a:latin typeface="Aptos"/>
                        </a:defRPr>
                      </a:pPr>
                      <a:r>
                        <a:t>Stock</a:t>
                      </a:r>
                    </a:p>
                  </a:txBody>
                  <a:tcPr marL="54864" marR="54864" marT="27432" marB="27432">
                    <a:solidFill>
                      <a:srgbClr val="19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0BEDC"/>
                          </a:solidFill>
                          <a:latin typeface="Aptos"/>
                        </a:defRPr>
                      </a:pPr>
                      <a:r>
                        <a:t>Total Return</a:t>
                      </a:r>
                    </a:p>
                  </a:txBody>
                  <a:tcPr marL="54864" marR="54864" marT="27432" marB="27432">
                    <a:solidFill>
                      <a:srgbClr val="19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0BEDC"/>
                          </a:solidFill>
                          <a:latin typeface="Aptos"/>
                        </a:defRPr>
                      </a:pPr>
                      <a:r>
                        <a:t>Ann. Volatility</a:t>
                      </a:r>
                    </a:p>
                  </a:txBody>
                  <a:tcPr marL="54864" marR="54864" marT="27432" marB="27432">
                    <a:solidFill>
                      <a:srgbClr val="19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0BEDC"/>
                          </a:solidFill>
                          <a:latin typeface="Aptos"/>
                        </a:defRPr>
                      </a:pPr>
                      <a:r>
                        <a:t>Max Drawdown</a:t>
                      </a:r>
                    </a:p>
                  </a:txBody>
                  <a:tcPr marL="54864" marR="54864" marT="27432" marB="27432">
                    <a:solidFill>
                      <a:srgbClr val="19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0BEDC"/>
                          </a:solidFill>
                          <a:latin typeface="Aptos"/>
                        </a:defRPr>
                      </a:pPr>
                      <a:r>
                        <a:t>Trend</a:t>
                      </a:r>
                    </a:p>
                  </a:txBody>
                  <a:tcPr marL="54864" marR="54864" marT="27432" marB="27432">
                    <a:solidFill>
                      <a:srgbClr val="19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0BEDC"/>
                          </a:solidFill>
                          <a:latin typeface="Aptos"/>
                        </a:defRPr>
                      </a:pPr>
                      <a:r>
                        <a:t>Risk</a:t>
                      </a:r>
                    </a:p>
                  </a:txBody>
                  <a:tcPr marL="54864" marR="54864" marT="27432" marB="27432">
                    <a:solidFill>
                      <a:srgbClr val="192233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TCS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−25.53%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28.35%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−38.46%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−1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−2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Infosys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−25.79%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30.22%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−40.43%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−1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−2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Reliance Industries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−13.96%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20.80%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−26.33%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−1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HDFC Bank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−24.04%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21.61%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−30.81%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−1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ICICI Bank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−3.19%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19.47%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−16.08%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−1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4892040"/>
            <a:ext cx="10652760" cy="822960"/>
          </a:xfrm>
          <a:prstGeom prst="roundRect">
            <a:avLst/>
          </a:prstGeom>
          <a:solidFill>
            <a:srgbClr val="111B2A"/>
          </a:solidFill>
          <a:ln w="12700">
            <a:solidFill>
              <a:srgbClr val="5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00176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5F7FA"/>
                </a:solidFill>
                <a:latin typeface="Aptos"/>
              </a:defRPr>
            </a:pPr>
            <a:r>
              <a:t>The comparison shows that ICICI Bank had the least negative historical return among the five stocks and the lowest annualized volatility in the displayed results.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C3"/>
                </a:solidFill>
                <a:latin typeface="Aptos"/>
              </a:rPr>
              <a:t>Investment Recommendation System  •  MBA Finance Capstone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  <a:latin typeface="Aptos Display"/>
              </a:rPr>
              <a:t>Testing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AB4C3"/>
                </a:solidFill>
                <a:latin typeface="Aptos"/>
              </a:rPr>
              <a:t>Functional checks performed on the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43891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0BEDC"/>
                </a:solidFill>
                <a:latin typeface="Aptos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34440"/>
          <a:ext cx="106070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852160"/>
                <a:gridCol w="2011680"/>
              </a:tblGrid>
              <a:tr h="55435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0BEDC"/>
                          </a:solidFill>
                          <a:latin typeface="Aptos"/>
                        </a:defRPr>
                      </a:pPr>
                      <a:r>
                        <a:t>Test Area</a:t>
                      </a:r>
                    </a:p>
                  </a:txBody>
                  <a:tcPr marL="54864" marR="54864" marT="27432" marB="27432">
                    <a:solidFill>
                      <a:srgbClr val="19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0BEDC"/>
                          </a:solidFill>
                          <a:latin typeface="Aptos"/>
                        </a:defRPr>
                      </a:pPr>
                      <a:r>
                        <a:t>Expected Result</a:t>
                      </a:r>
                    </a:p>
                  </a:txBody>
                  <a:tcPr marL="54864" marR="54864" marT="27432" marB="27432">
                    <a:solidFill>
                      <a:srgbClr val="1922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0BEDC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27432" marB="27432">
                    <a:solidFill>
                      <a:srgbClr val="192233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Data loading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Historical stock data loads successfully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Data cleaning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Missing values handled before analysis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Financial metrics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Return, volatility and drawdown calculated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Recommendation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Score maps to BUY/HOLD/SELL rule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Stock comparison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Selected stocks displayed using same methodology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Portfolio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Weights validated to 100%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</a:tr>
              <a:tr h="554355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Report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Investment report download available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5F7FA"/>
                          </a:solidFill>
                          <a:latin typeface="Aptos"/>
                        </a:defRPr>
                      </a:pPr>
                      <a:r>
                        <a:t>PASS</a:t>
                      </a:r>
                    </a:p>
                  </a:txBody>
                  <a:tcPr marL="54864" marR="54864" marT="27432" marB="27432">
                    <a:solidFill>
                      <a:srgbClr val="141C2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5806440"/>
            <a:ext cx="10469880" cy="502920"/>
          </a:xfrm>
          <a:prstGeom prst="roundRect">
            <a:avLst/>
          </a:prstGeom>
          <a:solidFill>
            <a:srgbClr val="111B2A"/>
          </a:solidFill>
          <a:ln w="12700">
            <a:solidFill>
              <a:srgbClr val="36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5916168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5F7FA"/>
                </a:solidFill>
                <a:latin typeface="Aptos"/>
              </a:defRPr>
            </a:pPr>
            <a:r>
              <a:t>Testing is based on the implemented dashboard functions and the displayed successful outputs in the submitted dashboard.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C3"/>
                </a:solidFill>
                <a:latin typeface="Aptos"/>
              </a:rPr>
              <a:t>Investment Recommendation System  •  MBA Finance Capstone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  <a:latin typeface="Aptos Display"/>
              </a:rPr>
              <a:t>Limitations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AB4C3"/>
                </a:solidFill>
                <a:latin typeface="Aptos"/>
              </a:rPr>
              <a:t>Current boundaries and possible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43891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0BEDC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349240" cy="452628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54864" cy="4526280"/>
          </a:xfrm>
          <a:prstGeom prst="rect">
            <a:avLst/>
          </a:prstGeom>
          <a:solidFill>
            <a:srgbClr val="E65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371600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09928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• Uses historical market data</a:t>
            </a:r>
            <a:br/>
            <a:r>
              <a:t>• Does not execute trades</a:t>
            </a:r>
            <a:br/>
            <a:r>
              <a:t>• Does not guarantee future returns</a:t>
            </a:r>
            <a:br/>
            <a:r>
              <a:t>• Scoring rules are project-defined</a:t>
            </a:r>
            <a:br/>
            <a:r>
              <a:t>• Advanced quantitative models are outside the present scope</a:t>
            </a:r>
            <a:br/>
            <a:r>
              <a:t>• Analysis is intended for academic purposes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5349240" cy="4526280"/>
          </a:xfrm>
          <a:prstGeom prst="roundRect">
            <a:avLst/>
          </a:prstGeom>
          <a:solidFill>
            <a:srgbClr val="141C2C"/>
          </a:solidFill>
          <a:ln w="10160">
            <a:solidFill>
              <a:srgbClr val="374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34440"/>
            <a:ext cx="54864" cy="4526280"/>
          </a:xfrm>
          <a:prstGeom prst="rect">
            <a:avLst/>
          </a:prstGeom>
          <a:solidFill>
            <a:srgbClr val="36BE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371600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AAB4C3"/>
                </a:solidFill>
                <a:latin typeface="Aptos"/>
              </a:rP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709928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5F7FA"/>
                </a:solidFill>
                <a:latin typeface="Aptos"/>
              </a:defRPr>
            </a:pPr>
            <a:r>
              <a:t>• Expand the asset universe</a:t>
            </a:r>
            <a:br/>
            <a:r>
              <a:t>• Add machine-learning models</a:t>
            </a:r>
            <a:br/>
            <a:r>
              <a:t>• Add real-time alerts</a:t>
            </a:r>
            <a:br/>
            <a:r>
              <a:t>• Add portfolio optimization techniques</a:t>
            </a:r>
            <a:br/>
            <a:r>
              <a:t>• Add online deployment and user authentication</a:t>
            </a:r>
            <a:br/>
            <a:r>
              <a:t>• Extend reporting and visualization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C3"/>
                </a:solidFill>
                <a:latin typeface="Aptos"/>
              </a:rPr>
              <a:t>Investment Recommendation System  •  MBA Finance Capstone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73152" cy="530352"/>
          </a:xfrm>
          <a:prstGeom prst="rect">
            <a:avLst/>
          </a:prstGeom>
          <a:solidFill>
            <a:srgbClr val="4391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7FA"/>
                </a:solidFill>
                <a:latin typeface="Aptos Display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8686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AAB4C3"/>
                </a:solidFill>
                <a:latin typeface="Aptos"/>
              </a:rPr>
              <a:t>Key takeaway from the 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438912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50BEDC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The project integrates finance concepts with Python-based data analytics.</a:t>
            </a:r>
          </a:p>
          <a:p>
            <a:pPr>
              <a:spcAft>
                <a:spcPts val="8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The dashboard provides a structured view of historical return, risk and trend.</a:t>
            </a:r>
          </a:p>
          <a:p>
            <a:pPr>
              <a:spcAft>
                <a:spcPts val="8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The system compares stocks using a consistent project-defined methodology.</a:t>
            </a:r>
          </a:p>
          <a:p>
            <a:pPr>
              <a:spcAft>
                <a:spcPts val="8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Portfolio analysis extends the system from single-stock analysis to combined investments.</a:t>
            </a:r>
          </a:p>
          <a:p>
            <a:pPr>
              <a:spcAft>
                <a:spcPts val="8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The result is an interactive academic tool for investment analysis and visualization.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440680"/>
            <a:ext cx="9966960" cy="685800"/>
          </a:xfrm>
          <a:prstGeom prst="roundRect">
            <a:avLst/>
          </a:prstGeom>
          <a:solidFill>
            <a:srgbClr val="111B2A"/>
          </a:solidFill>
          <a:ln w="12700">
            <a:solidFill>
              <a:srgbClr val="5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5550408"/>
            <a:ext cx="9646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5F7FA"/>
                </a:solidFill>
                <a:latin typeface="Aptos"/>
              </a:defRPr>
            </a:pPr>
            <a:r>
              <a:t>Data  →  Analysis  →  Risk &amp; Return  →  Recommendation  →  Portfolio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AAB4C3"/>
                </a:solidFill>
                <a:latin typeface="Aptos"/>
              </a:rPr>
              <a:t>Investment Recommendation System  •  MBA Finance Capstone  •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5F7FA"/>
                </a:solidFill>
                <a:latin typeface="Aptos Display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50BEDC"/>
                </a:solidFill>
                <a:latin typeface="Aptos"/>
              </a:rP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AB4C3"/>
                </a:solidFill>
                <a:latin typeface="Aptos"/>
              </a:rPr>
              <a:t>Investment Recommendation System
MBA Finance Capstone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